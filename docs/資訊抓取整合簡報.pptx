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7c6d84e91c4435" /><Relationship Type="http://schemas.openxmlformats.org/officeDocument/2006/relationships/extended-properties" Target="/docProps/app.xml" Id="Ra594bfa40c9f4470" /><Relationship Type="http://schemas.openxmlformats.org/officeDocument/2006/relationships/officeDocument" Target="/ppt/presentation.xml" Id="R733531883c4d4c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972e9e9bbb4dd7"/>
  </p:sldMasterIdLst>
  <p:notesMasterIdLst>
    <p:notesMasterId xmlns:r="http://schemas.openxmlformats.org/officeDocument/2006/relationships" r:id="Rf4a6566e2efc4e22"/>
  </p:notesMasterIdLst>
  <p:sldIdLst>
    <p:sldId xmlns:r="http://schemas.openxmlformats.org/officeDocument/2006/relationships" id="256" r:id="R7a7b956e7cfa488d"/>
    <p:sldId xmlns:r="http://schemas.openxmlformats.org/officeDocument/2006/relationships" id="257" r:id="Rcc1c6780a43241b7"/>
    <p:sldId xmlns:r="http://schemas.openxmlformats.org/officeDocument/2006/relationships" id="258" r:id="R3604107d1b5b4957"/>
    <p:sldId xmlns:r="http://schemas.openxmlformats.org/officeDocument/2006/relationships" id="259" r:id="R46d48df1a7444f4b"/>
    <p:sldId xmlns:r="http://schemas.openxmlformats.org/officeDocument/2006/relationships" id="260" r:id="Rcf89440e79c846ad"/>
    <p:sldId xmlns:r="http://schemas.openxmlformats.org/officeDocument/2006/relationships" id="261" r:id="R56729847b72c4c5e"/>
    <p:sldId xmlns:r="http://schemas.openxmlformats.org/officeDocument/2006/relationships" id="262" r:id="Rc167330174eb4d67"/>
    <p:sldId xmlns:r="http://schemas.openxmlformats.org/officeDocument/2006/relationships" id="263" r:id="Rc5138f727569419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9427601a5a40bb" /><Relationship Type="http://schemas.openxmlformats.org/officeDocument/2006/relationships/slideMaster" Target="/ppt/slideMasters/slideMaster1.xml" Id="Rc4972e9e9bbb4dd7" /><Relationship Type="http://schemas.openxmlformats.org/officeDocument/2006/relationships/notesMaster" Target="/ppt/notesMasters/notesMaster1.xml" Id="Rf4a6566e2efc4e22" /><Relationship Type="http://schemas.openxmlformats.org/officeDocument/2006/relationships/presProps" Target="/ppt/presProps.xml" Id="Rc0ab7248cd4a4c54" /><Relationship Type="http://schemas.openxmlformats.org/officeDocument/2006/relationships/tableStyles" Target="/ppt/tableStyles.xml" Id="Rdc008ff0cc4441b3" /><Relationship Type="http://schemas.openxmlformats.org/officeDocument/2006/relationships/slide" Target="/ppt/slides/slide1.xml" Id="R7a7b956e7cfa488d" /><Relationship Type="http://schemas.openxmlformats.org/officeDocument/2006/relationships/slide" Target="/ppt/slides/slide2.xml" Id="Rcc1c6780a43241b7" /><Relationship Type="http://schemas.openxmlformats.org/officeDocument/2006/relationships/slide" Target="/ppt/slides/slide3.xml" Id="R3604107d1b5b4957" /><Relationship Type="http://schemas.openxmlformats.org/officeDocument/2006/relationships/slide" Target="/ppt/slides/slide4.xml" Id="R46d48df1a7444f4b" /><Relationship Type="http://schemas.openxmlformats.org/officeDocument/2006/relationships/slide" Target="/ppt/slides/slide5.xml" Id="Rcf89440e79c846ad" /><Relationship Type="http://schemas.openxmlformats.org/officeDocument/2006/relationships/slide" Target="/ppt/slides/slide6.xml" Id="R56729847b72c4c5e" /><Relationship Type="http://schemas.openxmlformats.org/officeDocument/2006/relationships/slide" Target="/ppt/slides/slide7.xml" Id="Rc167330174eb4d67" /><Relationship Type="http://schemas.openxmlformats.org/officeDocument/2006/relationships/slide" Target="/ppt/slides/slide8.xml" Id="Rc5138f727569419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abdef370de44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996207aa094951" /><Relationship Type="http://schemas.openxmlformats.org/officeDocument/2006/relationships/notesMaster" Target="/ppt/notesMasters/notesMaster1.xml" Id="R1ac476060bd24c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93d5fa0b82b465a" /><Relationship Type="http://schemas.openxmlformats.org/officeDocument/2006/relationships/notesMaster" Target="/ppt/notesMasters/notesMaster1.xml" Id="R3eeecf49c69b40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e3298587f64d88" /><Relationship Type="http://schemas.openxmlformats.org/officeDocument/2006/relationships/notesMaster" Target="/ppt/notesMasters/notesMaster1.xml" Id="R87e490e49dc949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b3549c48924d0e" /><Relationship Type="http://schemas.openxmlformats.org/officeDocument/2006/relationships/notesMaster" Target="/ppt/notesMasters/notesMaster1.xml" Id="R00206986f677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af3f3a932d4f36" /><Relationship Type="http://schemas.openxmlformats.org/officeDocument/2006/relationships/notesMaster" Target="/ppt/notesMasters/notesMaster1.xml" Id="R5a2d80730daa43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4e7993b47f4696" /><Relationship Type="http://schemas.openxmlformats.org/officeDocument/2006/relationships/notesMaster" Target="/ppt/notesMasters/notesMaster1.xml" Id="R1d8da99bc61347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7d462f31d34a2a" /><Relationship Type="http://schemas.openxmlformats.org/officeDocument/2006/relationships/notesMaster" Target="/ppt/notesMasters/notesMaster1.xml" Id="Rd62742e6c3134f5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61afcf5473f4d4a" /><Relationship Type="http://schemas.openxmlformats.org/officeDocument/2006/relationships/notesMaster" Target="/ppt/notesMasters/notesMaster1.xml" Id="R3dcd34ea475346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fcf81711ab4c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54a4847895f48b6" /><Relationship Type="http://schemas.openxmlformats.org/officeDocument/2006/relationships/slideLayout" Target="/ppt/slideLayouts/slideLayout1.xml" Id="R3b8c4738f6b04a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c4738f6b04a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149e21409b43d7" /><Relationship Type="http://schemas.openxmlformats.org/officeDocument/2006/relationships/notesSlide" Target="/ppt/notesSlides/notesSlide1.xml" Id="Ree65911ffa8848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19b9c2509467e" /><Relationship Type="http://schemas.openxmlformats.org/officeDocument/2006/relationships/notesSlide" Target="/ppt/notesSlides/notesSlide2.xml" Id="Rfb43b137d8a94d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60880d65e4355" /><Relationship Type="http://schemas.openxmlformats.org/officeDocument/2006/relationships/notesSlide" Target="/ppt/notesSlides/notesSlide3.xml" Id="Rf6fc1e1a9e03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ad87cbad8410e" /><Relationship Type="http://schemas.openxmlformats.org/officeDocument/2006/relationships/notesSlide" Target="/ppt/notesSlides/notesSlide4.xml" Id="R2b45384d79b04d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b10995aba4524" /><Relationship Type="http://schemas.openxmlformats.org/officeDocument/2006/relationships/notesSlide" Target="/ppt/notesSlides/notesSlide5.xml" Id="R55dd4c17bfbf49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8389e814344ab" /><Relationship Type="http://schemas.openxmlformats.org/officeDocument/2006/relationships/notesSlide" Target="/ppt/notesSlides/notesSlide6.xml" Id="R968da1bcf0c747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8abcf65454b88" /><Relationship Type="http://schemas.openxmlformats.org/officeDocument/2006/relationships/notesSlide" Target="/ppt/notesSlides/notesSlide7.xml" Id="R50e8e5345873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38514c70e40b5" /><Relationship Type="http://schemas.openxmlformats.org/officeDocument/2006/relationships/notesSlide" Target="/ppt/notesSlides/notesSlide8.xml" Id="Rcfbf0adeefa34b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994E93-4109-4B47-9DF0-2916377A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8953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B1220"/>
                </a:solidFill>
              </a:defRPr>
            </a:pPr>
            <a:r>
              <a:rPr sz="4200" b="1">
                <a:solidFill>
                  <a:srgbClr val="0B1220"/>
                </a:solidFill>
              </a:rPr>
              <a:t>資訊抓取不是按鈕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822E3-90E7-4748-8B2F-76A27D11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895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80ED"/>
                </a:solidFill>
              </a:defRPr>
            </a:pPr>
            <a:r>
              <a:rPr sz="2550" b="1">
                <a:solidFill>
                  <a:srgbClr val="2F80ED"/>
                </a:solidFill>
              </a:rPr>
              <a:t>它是一組必須被共同遵守的資料契約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BF3F4-0A2F-4B3B-A142-85927FB7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38400"/>
            <a:ext cx="7810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6070"/>
                </a:solidFill>
              </a:defRPr>
            </a:pPr>
            <a:r>
              <a:rPr sz="1800" b="0">
                <a:solidFill>
                  <a:srgbClr val="556070"/>
                </a:solidFill>
              </a:rPr>
              <a:t>日線、三大法人、雷達快照、官方資料包、背景同步、單檔同步都會碰同一批本地資料。改其中一塊時，不能讓其他入口講出不同答案。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02100-96ED-4CEC-8024-282D8793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05300"/>
            <a:ext cx="3238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22C139-80E9-4233-8C2E-1C336610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339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單一決策核心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C0B398-FD10-473E-BF9F-7E9A23F7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data_gap.py 決定是否要抓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4F5BF-97BB-42FB-8DE5-51964280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305300"/>
            <a:ext cx="3238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AA4C15-6864-4301-9D2A-00BDD38F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339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同一資料真相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FB629-058C-41BA-9478-BAE3C694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95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SQLiteStore 是唯一落點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CB0C4-38B1-4D15-B2DF-957D77AD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305300"/>
            <a:ext cx="32385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B530F2-811E-4BC1-B86F-68875D21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339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白話狀態投影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6017F-0338-4676-9AB0-DBF67372E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95850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web/api.py 才翻成 UI 文案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64EEB-4B3D-4D69-8BAA-603D6F68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C85F3-C3A1-4F0A-B39B-0E6E995E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41809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459A55-16D6-4112-BB98-57367D1E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同一件事有六個入口，所以不能各寫各的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C10D8-AE72-4A4F-8B8B-B03C6D9A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</a:defRPr>
            </a:pPr>
            <a:r>
              <a:rPr sz="1500" b="0">
                <a:solidFill>
                  <a:srgbClr val="556070"/>
                </a:solidFill>
              </a:rPr>
              <a:t>使用者看到的是不同按鈕，資料庫看到的是同一批狀態。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3FD48-9893-47DE-9759-D7582D5A7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FBFA5-321B-4835-8735-B73A4AD5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F8377F-1E69-4D54-9D98-BE2AF86D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FBA2E-002E-4FD8-9538-7486C0D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2971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D9DE1-683C-48D9-9115-7797F9F6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個股同步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B3A5A4-B8AD-4AB7-A9DA-857FC974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14600"/>
            <a:ext cx="2971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79DDE-660D-49B6-AA6C-052827B1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全市場資料下載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4F0E0-F5B0-4845-8CCD-1B5B03BC8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2971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EF350A-274A-4474-96CA-C7D31CC4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623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背景安靜同步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1EFA1-089A-479B-A74D-80257B5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2971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A25050-A767-42E0-AB13-C05A87DC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更新雷達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57435-AD8D-4271-A794-3E4D987A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971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6049B-9932-40C7-B72E-A8E42DEC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套官方資料包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694DE-8BFD-4EB4-9389-5B920EE2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24400"/>
            <a:ext cx="29718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88C55B-049C-4EFF-B599-E663C69D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96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首次匯入舊資料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375028-F4CF-4538-848C-7AEFF59F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18135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56070"/>
                </a:solidFill>
              </a:defRPr>
            </a:pPr>
            <a:r>
              <a:rPr sz="1650" b="1">
                <a:solidFill>
                  <a:srgbClr val="556070"/>
                </a:solidFill>
              </a:rPr>
              <a:t>都會影響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B4D5C4-4CA0-49D0-A005-7B1DC457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433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8822A-C718-4D6F-8D3A-278B53B4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28850"/>
            <a:ext cx="2762250" cy="203835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757F4-34AD-4785-AB80-E452CDAF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5717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SQLite 本地資料庫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98E765-9832-44A8-BC1F-F0B6FFF6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48000"/>
            <a:ext cx="17335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6070"/>
                </a:solidFill>
              </a:defRPr>
            </a:pPr>
            <a:r>
              <a:rPr sz="1425" b="0">
                <a:solidFill>
                  <a:srgbClr val="556070"/>
                </a:solidFill>
              </a:rPr>
              <a:t>daily_prices</a:t>
            </a:r>
          </a:p>
          <a:p xmlns:a="http://schemas.openxmlformats.org/drawingml/2006/main">
            <a:pPr algn="ctr">
              <a:defRPr sz="1425" b="0">
                <a:solidFill>
                  <a:srgbClr val="556070"/>
                </a:solidFill>
              </a:defRPr>
            </a:pPr>
            <a:r>
              <a:rPr sz="1425" b="0">
                <a:solidFill>
                  <a:srgbClr val="556070"/>
                </a:solidFill>
              </a:rPr>
              <a:t>stock_profiles</a:t>
            </a:r>
          </a:p>
          <a:p xmlns:a="http://schemas.openxmlformats.org/drawingml/2006/main">
            <a:pPr algn="ctr">
              <a:defRPr sz="1425" b="0">
                <a:solidFill>
                  <a:srgbClr val="556070"/>
                </a:solidFill>
              </a:defRPr>
            </a:pPr>
            <a:r>
              <a:rPr sz="1425" b="0">
                <a:solidFill>
                  <a:srgbClr val="556070"/>
                </a:solidFill>
              </a:rPr>
              <a:t>data_coverage</a:t>
            </a:r>
          </a:p>
          <a:p xmlns:a="http://schemas.openxmlformats.org/drawingml/2006/main">
            <a:pPr algn="ctr">
              <a:defRPr sz="1425" b="0">
                <a:solidFill>
                  <a:srgbClr val="556070"/>
                </a:solidFill>
              </a:defRPr>
            </a:pPr>
            <a:r>
              <a:rPr sz="1425" b="0">
                <a:solidFill>
                  <a:srgbClr val="556070"/>
                </a:solidFill>
              </a:rPr>
              <a:t>sync_runs</a:t>
            </a:r>
          </a:p>
          <a:p xmlns:a="http://schemas.openxmlformats.org/drawingml/2006/main">
            <a:pPr algn="ctr">
              <a:defRPr sz="1425" b="0">
                <a:solidFill>
                  <a:srgbClr val="556070"/>
                </a:solidFill>
              </a:defRPr>
            </a:pPr>
            <a:r>
              <a:rPr sz="1425" b="0">
                <a:solidFill>
                  <a:srgbClr val="556070"/>
                </a:solidFill>
              </a:rPr>
              <a:t>app_cache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404241-90B0-48B8-8214-7AFDBC9C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00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如果入口各自判斷，就會出現：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563C35-2615-4C11-A7D7-6577EE13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- UI 說過期，但日線其實已最新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5B2748-E017-4741-BBC0-7024D689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71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- 全市場跳過，單檔又想重抓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31F4D0-E7B0-4B95-BDF3-4FFA2F33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86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- 資料包套了，local-data 還顯示舊狀態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6A2F8F-D630-42B1-8FB7-798234AC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- 雷達快照舊，被誤當日線壞掉</a:t>
            </a:r>
          </a:p>
        </p:txBody>
      </p:sp>
    </p:spTree>
    <p:extLst>
      <p:ext uri="{BB962C8B-B14F-4D97-AF65-F5344CB8AC3E}">
        <p14:creationId xmlns:p14="http://schemas.microsoft.com/office/powerpoint/2010/main" val="114736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9BBD6-6E6D-4913-9502-F4BE4678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來源先入庫，再投影給 UI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FDEFF-2E11-499C-8757-DF280ED9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</a:defRPr>
            </a:pPr>
            <a:r>
              <a:rPr sz="1500" b="0">
                <a:solidFill>
                  <a:srgbClr val="556070"/>
                </a:solidFill>
              </a:rPr>
              <a:t>UI 不直接碰 TWSE，也不自己猜資料是否該抓。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A3E69-430B-4CCB-B7A0-0F50CF12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08858-7CF3-4551-83E1-5A22B51A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1671A-B681-46D1-AB0F-04D5E1AE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249F9B-2155-47CF-864B-75EB3449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58115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CDDBAD-C4D7-44F0-B35D-0E312F067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外部來源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4C507-A09B-48E4-943D-0724FA8F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TWSE / STOCK_DAY</a:t>
            </a:r>
          </a:p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STOCK_DAY_ALL / T86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45864F-623A-4337-9D5D-BF209965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105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4F0C4-A858-452D-8D4C-AE3D3164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28900"/>
            <a:ext cx="158115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A6F1D8-9BAA-4FAD-B0F5-969126F3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575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Adapter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C00009-9061-4F77-90D4-56D38B13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2385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app/sync/twse.py</a:t>
            </a:r>
          </a:p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轉成 app.models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A97E2-EDB6-45DE-A6FB-6F2A9C0C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05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C5F9A-6B73-4417-A6A5-E9114ACE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28900"/>
            <a:ext cx="158115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A1643-2BCE-470B-B22F-CD068B4F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寫入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A32E50-D75B-4F24-8174-51E920380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SQLiteStore</a:t>
            </a:r>
          </a:p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upsert + coverage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2A11C7-9D4F-49C2-BAD7-F9A91DB3F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C9327-B918-4C8C-B8E5-8C8F44A4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28900"/>
            <a:ext cx="158115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2A6F2-3264-4F93-9A26-C75A578F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575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決策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188420-DA59-4D5A-8692-3666E010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385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data_gap.py</a:t>
            </a:r>
          </a:p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freshness x depth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7E5F09-1B63-4B7D-B9E9-89EC6913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AC21D2-2C28-48FD-A2FE-104C7198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28900"/>
            <a:ext cx="158115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676FD1-A632-4CE2-83BC-B7E02A12E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575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投影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DCF0B-A902-4922-9510-399BC7C8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web/api.py</a:t>
            </a:r>
          </a:p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人話 payload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0FC77-D0A5-4DAA-9409-AD68D1F3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0515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80ED"/>
                </a:solidFill>
              </a:defRPr>
            </a:pPr>
            <a:r>
              <a:rPr sz="165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D0C15-E2A8-47B0-90F4-B389F22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28900"/>
            <a:ext cx="1581150" cy="1295400"/>
          </a:xfrm>
          <a:prstGeom xmlns:a="http://schemas.openxmlformats.org/drawingml/2006/main" prst="roundRect">
            <a:avLst>
              <a:gd name="adj" fmla="val 441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E33462-C8F2-4B6C-9623-DA66888F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85750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介面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63285E-BF33-491F-B730-85331FD3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38500"/>
            <a:ext cx="1314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app.js</a:t>
            </a:r>
          </a:p>
          <a:p xmlns:a="http://schemas.openxmlformats.org/drawingml/2006/main">
            <a:pPr algn="ctr">
              <a:defRPr sz="1125" b="0">
                <a:solidFill>
                  <a:srgbClr val="556070"/>
                </a:solidFill>
              </a:defRPr>
            </a:pPr>
            <a:r>
              <a:rPr sz="1125" b="0">
                <a:solidFill>
                  <a:srgbClr val="556070"/>
                </a:solidFill>
              </a:rPr>
              <a:t>按鈕與提示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97913C-E0B7-4B2C-84E5-00E38BF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610100"/>
            <a:ext cx="82296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6D3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F41D0C-4B08-44BD-A5A1-65BBBFF36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76800"/>
            <a:ext cx="7658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26D3D"/>
                </a:solidFill>
              </a:defRPr>
            </a:pPr>
            <a:r>
              <a:rPr sz="1500" b="1">
                <a:solidFill>
                  <a:srgbClr val="F26D3D"/>
                </a:solidFill>
              </a:rPr>
              <a:t>唯一例外不是例外：官方資料包與舊版匯入也要先 merge 進 SQLite，再刪 cache、重算 coverage。</a:t>
            </a:r>
          </a:p>
        </p:txBody>
      </p:sp>
    </p:spTree>
    <p:extLst>
      <p:ext uri="{BB962C8B-B14F-4D97-AF65-F5344CB8AC3E}">
        <p14:creationId xmlns:p14="http://schemas.microsoft.com/office/powerpoint/2010/main" val="6246151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F36AE-90C2-4964-B4CA-D6D2DA7B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日線判斷只看兩個軸：最新度和歷史深度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34961-C48B-4D85-A22B-1F1825A9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</a:defRPr>
            </a:pPr>
            <a:r>
              <a:rPr sz="1500" b="0">
                <a:solidFill>
                  <a:srgbClr val="556070"/>
                </a:solidFill>
              </a:rPr>
              <a:t>這是 00405A、全市場下載、單檔同步都要共用的語言。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CCC14-605D-443E-B99E-D65566F9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C5034-7102-4DFD-97E7-352838B5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CD051-786D-418D-AD98-C3484ACF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6A6B2-6EC9-4D8D-B9CD-AF11E26A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freshness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CD2D03-1418-4A91-B035-93436E35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latest_date 是否到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2B3AF-72DC-48A7-A363-F93379CD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C7D0DA"/>
                </a:solidFill>
              </a:defRPr>
            </a:pPr>
            <a:r>
              <a:rPr sz="3900" b="1">
                <a:solidFill>
                  <a:srgbClr val="C7D0DA"/>
                </a:solidFill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F890D-6D9B-4C35-AE23-C1E40500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24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9E68"/>
                </a:solidFill>
              </a:defRPr>
            </a:pPr>
            <a:r>
              <a:rPr sz="1800" b="1">
                <a:solidFill>
                  <a:srgbClr val="1E9E68"/>
                </a:solidFill>
              </a:rPr>
              <a:t>depth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138B0-BB14-47DF-B1B5-5699FB31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66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row_count / expected_days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E86EA-4187-4E46-B057-971C38F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907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C7D0DA"/>
                </a:solidFill>
              </a:defRPr>
            </a:pPr>
            <a:r>
              <a:rPr sz="3900" b="1">
                <a:solidFill>
                  <a:srgbClr val="C7D0DA"/>
                </a:solidFill>
              </a:rPr>
              <a:t>=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08BC0-A778-46A8-BE65-E7C15018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240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26D3D"/>
                </a:solidFill>
              </a:defRPr>
            </a:pPr>
            <a:r>
              <a:rPr sz="1800" b="1">
                <a:solidFill>
                  <a:srgbClr val="F26D3D"/>
                </a:solidFill>
              </a:rPr>
              <a:t>行動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6DA6C-D757-4555-AFF7-73BF68B6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669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skip / patch / backfill / pending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81A28-6A04-42E2-872B-09841F62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29000"/>
            <a:ext cx="9601200" cy="2667000"/>
          </a:xfrm>
          <a:prstGeom xmlns:a="http://schemas.openxmlformats.org/drawingml/2006/main" prst="roundRect">
            <a:avLst>
              <a:gd name="adj" fmla="val 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422AC-D059-4F16-9B4C-DF2F79A6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81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狀態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EC9BF8-1CC5-46EF-890C-B8FA9CB2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81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意思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22C66-149E-4778-A0D1-2D9B628A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81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使用者文字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DEB4DA-28C2-4EF7-AFE2-E5487A10E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資料動作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98E955-259F-4D52-85DE-A03668B1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6240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39BD47-7607-4B48-AB44-963E739C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1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fresh + usable/deep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CCF8F-C084-405A-BF68-B8922777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最新且夠深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A08BD-AEB2-4EAF-BAB4-558F5041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1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日線已最新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112BFD-96EF-4F99-A17E-964FE1B9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跳過日線下載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A606C2-23C5-4EA3-96D5-A50C2CC8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DB07AC-657B-46B9-8459-30A0CE29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48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fresh + shallow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798724-28B7-4C7A-8650-8CA028CE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48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最新但樣本短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84F44-3564-42C1-9931-E0A8BC45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歷史待背景補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B63DD7-F5DC-4D1C-AA4C-646D83AB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48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補歷史 / history_pending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5686AA-78C4-42AB-BCF0-F900AE80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2920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E80B29-9F84-497E-8F7B-FCA69A07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81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stale + 小缺口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3F5B63-3CEC-4BEC-9080-B4DA9B0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181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缺幾個交易日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C029E-819E-4487-A0E9-C0CE2C55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181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補這檔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BC8EF8-06D3-4709-A4D1-48175195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816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只補缺少交易日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A522B3-AB7C-4928-9EE5-F07E7D5E6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62600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9045D1-A0DD-4862-A673-747C4AA8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15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</a:defRPr>
            </a:pPr>
            <a:r>
              <a:rPr sz="1275" b="1">
                <a:solidFill>
                  <a:srgbClr val="0B1220"/>
                </a:solidFill>
              </a:rPr>
              <a:t>empty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57572C-7FC5-48A0-8F14-552B3F5C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715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完全沒資料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B2F05E-A6A0-4035-926C-CE029134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套官方資料包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24706B-4823-4CF4-964C-F65690910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6070"/>
                </a:solidFill>
              </a:defRPr>
            </a:pPr>
            <a:r>
              <a:rPr sz="1275" b="0">
                <a:solidFill>
                  <a:srgbClr val="556070"/>
                </a:solidFill>
              </a:rPr>
              <a:t>先套官方包，再補增量</a:t>
            </a:r>
          </a:p>
        </p:txBody>
      </p:sp>
    </p:spTree>
    <p:extLst>
      <p:ext uri="{BB962C8B-B14F-4D97-AF65-F5344CB8AC3E}">
        <p14:creationId xmlns:p14="http://schemas.microsoft.com/office/powerpoint/2010/main" val="20227821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8A17AA-D222-451A-9A83-50B3843F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全市場下載是一個管線，不是暴力重抓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7B7577-8044-4750-933C-6F2B6F854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</a:defRPr>
            </a:pPr>
            <a:r>
              <a:rPr sz="1500" b="0">
                <a:solidFill>
                  <a:srgbClr val="556070"/>
                </a:solidFill>
              </a:rPr>
              <a:t>先補最新，再處理小缺口；歷史不足可以留給背景或單檔。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2B1E1-92BA-4FA8-B332-CC98A338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D8FB52-35C6-476A-A3FC-475F9AD3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3061F-685F-4E65-BFD4-A2353A12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1AFEE5-35F9-4F39-9CCA-48A3B1EA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324100" cy="24765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AEAF5-0203-49C1-91C6-DF632191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43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80ED"/>
                </a:solidFill>
              </a:defRPr>
            </a:pPr>
            <a:r>
              <a:rPr sz="3150" b="1">
                <a:solidFill>
                  <a:srgbClr val="2F80ED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B80055-523A-40F6-A30E-DDE54C79B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457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prelude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28540-DB35-49FA-97E4-AC42F6E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STOCK_DAY_ALL top-up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上市清單與共用檔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近期 T86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A0620F-ABC0-490D-9C32-5F600E2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219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BA829-1965-4802-8D17-2F3F615C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52650"/>
            <a:ext cx="2324100" cy="24765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0FA66-F475-46AB-9719-6D443E1B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43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80ED"/>
                </a:solidFill>
              </a:defRPr>
            </a:pPr>
            <a:r>
              <a:rPr sz="3150" b="1">
                <a:solidFill>
                  <a:srgbClr val="2F80ED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6E5073-5BF4-4626-B262-D33170B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4B791-D92A-4B5C-A28A-5EB20FEC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小缺口優先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已失敗先冷卻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特殊商品不空抓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00ABAD-D4B6-4257-9560-B1030300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219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2E58C8-05FA-4FFA-89E8-D1F820E2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52650"/>
            <a:ext cx="2324100" cy="24765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2F80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CB1AC-AD67-4B08-92AD-BF2833A3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43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80ED"/>
                </a:solidFill>
              </a:defRPr>
            </a:pPr>
            <a:r>
              <a:rPr sz="3150" b="1">
                <a:solidFill>
                  <a:srgbClr val="2F80ED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D51A3-BB30-4009-AD19-601DB45A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逐檔日線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B4E56A-8F70-4E12-8500-299A2EBF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051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plan_data_gap 決定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patch 或 backfill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post-check 驗收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8D7176-95F8-46AB-820F-7AF1A186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219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F80ED"/>
                </a:solidFill>
              </a:defRPr>
            </a:pPr>
            <a:r>
              <a:rPr sz="1800" b="1">
                <a:solidFill>
                  <a:srgbClr val="2F80ED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4270F-B457-42C6-8C12-CDE1EDA2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2324100" cy="24765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02AD0A-84A1-48B7-BF48-B7051A0F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343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2F80ED"/>
                </a:solidFill>
              </a:defRPr>
            </a:pPr>
            <a:r>
              <a:rPr sz="3150" b="1">
                <a:solidFill>
                  <a:srgbClr val="2F80ED"/>
                </a:solidFill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B8B137-6BEA-43A5-A0C6-F9489335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57450"/>
            <a:ext cx="1219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收尾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5D031A-2381-496F-B2AB-04712609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05150"/>
            <a:ext cx="1866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再 top-up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刷新雷達快照</a:t>
            </a:r>
          </a:p>
          <a:p xmlns:a="http://schemas.openxmlformats.org/drawingml/2006/main">
            <a:pPr algn="ctr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刪 local_data cache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BD74BF-1341-430E-B99D-B2454F85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81600"/>
            <a:ext cx="91440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6D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5D72D6-107F-4DFE-A716-6023CE04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53050"/>
            <a:ext cx="8610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26D3D"/>
                </a:solidFill>
              </a:defRPr>
            </a:pPr>
            <a:r>
              <a:rPr sz="1350" b="1">
                <a:solidFill>
                  <a:srgbClr val="F26D3D"/>
                </a:solidFill>
              </a:rPr>
              <a:t>重點：manual bulk 不需要一次把所有歷史補完；它要先讓全市場最近收盤可用，剩下交給背景或單檔補齊。</a:t>
            </a:r>
          </a:p>
        </p:txBody>
      </p:sp>
    </p:spTree>
    <p:extLst>
      <p:ext uri="{BB962C8B-B14F-4D97-AF65-F5344CB8AC3E}">
        <p14:creationId xmlns:p14="http://schemas.microsoft.com/office/powerpoint/2010/main" val="10558294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7765DB-4787-484D-89AA-82549512E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官方資料包是 baseline，不是使用者資料覆蓋器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A68395-2C10-4D67-BC0B-C070B0DB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</a:defRPr>
            </a:pPr>
            <a:r>
              <a:rPr sz="1500" b="0">
                <a:solidFill>
                  <a:srgbClr val="556070"/>
                </a:solidFill>
              </a:rPr>
              <a:t>測試員資料比較少時，資料包應該補公開市場資料，而不是替換個人狀態。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1057B-C6FD-493A-A8F8-29808E622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8EB68-55E1-4467-8966-E7E799A88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2A819B-C0E8-409B-A35B-FD275C16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A1FE7-8CEF-4A82-8080-A5A2ABED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38350"/>
            <a:ext cx="4953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36C92-377F-439C-B745-E839E35C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只新增缺的公開資料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66A80-97BF-4A69-8916-E6126664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daily_prices、profiles、股利、估值、營收、財報、法人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E6F718-57EC-47B1-9F84-8D9DFDFE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43250"/>
            <a:ext cx="4953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623DA-2F19-45C1-8114-624BC871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不碰私人資料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BCCC49-2527-429E-8D92-2EE4278C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自選股、持倉、圖表標註、設定都不能覆蓋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0C1AFF-2224-4E2C-A783-8BFC25BF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48150"/>
            <a:ext cx="495300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2901AC-684F-41DC-A167-334EC5E1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套完要重算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E6A92-B50D-4410-9172-5383FA02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seed 內的 data_coverage 只能當快取，不能當真相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A6DEBF-7810-42CE-948C-73835CF2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4171950" cy="238125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9E6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B1428A-5BF6-4317-80CA-C547EC4A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9E68"/>
                </a:solidFill>
              </a:defRPr>
            </a:pPr>
            <a:r>
              <a:rPr sz="1800" b="1">
                <a:solidFill>
                  <a:srgbClr val="1E9E68"/>
                </a:solidFill>
              </a:rPr>
              <a:t>正確使用順序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5C6F8D-820C-458A-9C9C-4A8A5944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1. 建立或更新本機 DB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41CB3-C5EC-480B-8698-7F4D62BA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194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2. 套用官方資料包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6852C-EDAD-474C-B08F-84C2CBAE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242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3. 刪 local_data_v3 cache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AEA008-71C5-4285-B10C-51FDC213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4. 用 data_gap 重新投影狀態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78BB6-17DC-406E-BD99-AAA4CDC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33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5. 再跑增量同步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6F204-5EC3-43C3-91E4-AF8763C33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8635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E9E6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2AA1D1-5207-43BF-9FD2-0F7E5E31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51720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9E68"/>
                </a:solidFill>
              </a:defRPr>
            </a:pPr>
            <a:r>
              <a:rPr sz="1125" b="1">
                <a:solidFill>
                  <a:srgbClr val="1E9E68"/>
                </a:solidFill>
              </a:rPr>
              <a:t>only-add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CEB83-DCEC-42F1-A634-95317E9D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086350"/>
            <a:ext cx="14287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6D3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2F320-303D-42E6-9889-EA3991DF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72075"/>
            <a:ext cx="116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26D3D"/>
                </a:solidFill>
              </a:defRPr>
            </a:pPr>
            <a:r>
              <a:rPr sz="1125" b="1">
                <a:solidFill>
                  <a:srgbClr val="F26D3D"/>
                </a:solidFill>
              </a:rPr>
              <a:t>no private overwrite</a:t>
            </a:r>
          </a:p>
        </p:txBody>
      </p:sp>
    </p:spTree>
    <p:extLst>
      <p:ext uri="{BB962C8B-B14F-4D97-AF65-F5344CB8AC3E}">
        <p14:creationId xmlns:p14="http://schemas.microsoft.com/office/powerpoint/2010/main" val="1853272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9B9BA-5FD4-49D8-A61C-C0EC59C6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改 A 時一定要看 B，這是避免回歸的最短路徑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B51834-2EE9-4E83-8FA6-39A6D148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</a:defRPr>
            </a:pPr>
            <a:r>
              <a:rPr sz="1500" b="0">
                <a:solidFill>
                  <a:srgbClr val="556070"/>
                </a:solidFill>
              </a:rPr>
              <a:t>這張就是 Agent 施工前的地圖。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E74F4-9D1F-42F4-9E19-DE2021AF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5C96B-C003-4AE5-8B59-9ABC2B526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535CB-3902-455C-8ACC-39933778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2F615C-E512-4ADB-837F-8F8F87CA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5105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B9658-4B33-4CAF-B959-5BE12631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日線最新判斷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32D0A4-E1A5-4BD6-A2D1-3D2D2445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1145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一起看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E644-18A5-4AEE-B0BC-2965E50B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14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freshness payload / stock page / bulk skip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C4BF5-7356-423C-87A4-44358CD2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5105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9CB64B-5529-44C0-8C6F-9B7FEBE3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depth 門檻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81683-FC9B-4854-9734-4D4A8A5F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一起看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312F6-B79D-4B2C-B1DC-75FCF363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145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新上市 / 00...A 商品 / 停牌容忍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02D6F0-A915-43D0-8C25-711ED215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5105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616546-334D-4B3A-A5A0-1DB83534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STOCK_DAY 抓法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75FA8-A409-4788-AE3E-6182C549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813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一起看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BC10E7-B364-426D-8C25-7D5D51FF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81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warning / retry / post-check / failed 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BE75C-4AA6-44F5-B625-EAC7AEF0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28950"/>
            <a:ext cx="5105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75549E-E522-4FD8-8BF6-37223A32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813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STOCK_DAY_ALL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B050A-C3E7-403F-B884-D101DC80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813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一起看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BEB70-81B6-42F9-891F-BB8B3DA9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top-up / depth / local-data cache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224CD1-148B-4174-8712-580C164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5105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16FBEB-5B5E-4C94-A05F-0B688938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全市場 UI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F43FE5-4072-4E66-AD89-60FDA3BC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481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一起看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D9CAD4-C9C8-4A1A-AF94-D5D14CE1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2481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bulk status / bulk_progress / row labels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68C521-263F-4494-B724-539C4AEE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95750"/>
            <a:ext cx="51054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642AD-A31F-4605-89B9-EC464017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481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80ED"/>
                </a:solidFill>
              </a:defRPr>
            </a:pPr>
            <a:r>
              <a:rPr sz="1500" b="1">
                <a:solidFill>
                  <a:srgbClr val="2F80ED"/>
                </a:solidFill>
              </a:rPr>
              <a:t>官方資料包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37700E-8E25-43AE-ACC4-A4B40F27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481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56070"/>
                </a:solidFill>
              </a:defRPr>
            </a:pPr>
            <a:r>
              <a:rPr sz="1200" b="1">
                <a:solidFill>
                  <a:srgbClr val="556070"/>
                </a:solidFill>
              </a:rPr>
              <a:t>一起看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40F869-C2D1-4CAD-8A02-3A81F253F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2481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6070"/>
                </a:solidFill>
              </a:defRPr>
            </a:pPr>
            <a:r>
              <a:rPr sz="1200" b="0">
                <a:solidFill>
                  <a:srgbClr val="556070"/>
                </a:solidFill>
              </a:rPr>
              <a:t>seed merge / app-info / README / bat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EC108-D64A-43D9-8F11-1A052B0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10200"/>
            <a:ext cx="8610600" cy="4381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410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1F6F1D-D62C-463B-BD13-441C53B28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543550"/>
            <a:ext cx="803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410C"/>
                </a:solidFill>
              </a:defRPr>
            </a:pPr>
            <a:r>
              <a:rPr sz="1350" b="1">
                <a:solidFill>
                  <a:srgbClr val="C2410C"/>
                </a:solidFill>
              </a:rPr>
              <a:t>如果這張表有任何一欄沒看，先不要 commit。</a:t>
            </a:r>
          </a:p>
        </p:txBody>
      </p:sp>
    </p:spTree>
    <p:extLst>
      <p:ext uri="{BB962C8B-B14F-4D97-AF65-F5344CB8AC3E}">
        <p14:creationId xmlns:p14="http://schemas.microsoft.com/office/powerpoint/2010/main" val="993308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38E86D-82C7-4B0B-8B60-0E9F565B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819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最後交付物應該讓下一個 Agent 先讀定義，再動程式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D27ED-E76C-4B40-87E1-DAEA668D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6070"/>
                </a:solidFill>
              </a:defRPr>
            </a:pPr>
            <a:r>
              <a:rPr sz="1500" b="0">
                <a:solidFill>
                  <a:srgbClr val="556070"/>
                </a:solidFill>
              </a:rPr>
              <a:t>定義文件比單次 handoff 更耐用，因為它描述的是契約，不是某次修補。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47CF4-AC8E-4EA6-9A8C-EEA40DB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859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0DA"/>
          </a:solidFill>
          <a:ln xmlns:a="http://schemas.openxmlformats.org/drawingml/2006/main" w="0">
            <a:solidFill>
              <a:srgbClr val="C7D0D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B6DFA-C6CC-4892-B6B0-95EC9DA7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資訊抓取整合定義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018F8-9C88-4DDD-836A-20C677EF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4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6070"/>
                </a:solidFill>
              </a:defRPr>
            </a:pPr>
            <a:r>
              <a:rPr sz="1050" b="0">
                <a:solidFill>
                  <a:srgbClr val="556070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10D028-510E-4481-9971-8612EFD6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76450"/>
            <a:ext cx="4914900" cy="2895600"/>
          </a:xfrm>
          <a:prstGeom xmlns:a="http://schemas.openxmlformats.org/drawingml/2006/main" prst="roundRect">
            <a:avLst>
              <a:gd name="adj" fmla="val 1974"/>
            </a:avLst>
          </a:prstGeom>
          <a:solidFill xmlns:a="http://schemas.openxmlformats.org/drawingml/2006/main">
            <a:srgbClr val="EFF3F7"/>
          </a:solidFill>
          <a:ln xmlns:a="http://schemas.openxmlformats.org/drawingml/2006/main" w="9525">
            <a:solidFill>
              <a:srgbClr val="C7D0D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8740C-B68D-4E77-9118-5F64002A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812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220"/>
                </a:solidFill>
              </a:defRPr>
            </a:pPr>
            <a:r>
              <a:rPr sz="1950" b="1">
                <a:solidFill>
                  <a:srgbClr val="0B1220"/>
                </a:solidFill>
              </a:rPr>
              <a:t>施工前讀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E31B2-A05F-4F90-B7FC-8467808EF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52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1. docs/00-AGENT必讀_資訊抓取整合定義.md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A7230A-3397-4EAB-B618-AD8446D2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2. docs/18-日線資料同步架構重設計.md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E24CDF-97EE-4374-9E34-8E7ED011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3. app/analyze/data_gap.py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3F07BB-C06B-449D-91AF-3E003E5D4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529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4. 相關入口與測試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08679-F1D1-49EF-964B-EEE01469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76450"/>
            <a:ext cx="4914900" cy="2895600"/>
          </a:xfrm>
          <a:prstGeom xmlns:a="http://schemas.openxmlformats.org/drawingml/2006/main" prst="roundRect">
            <a:avLst>
              <a:gd name="adj" fmla="val 19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F80E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11291-04C9-47DD-ADC2-4BDDBAEA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432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F80ED"/>
                </a:solidFill>
              </a:defRPr>
            </a:pPr>
            <a:r>
              <a:rPr sz="1950" b="1">
                <a:solidFill>
                  <a:srgbClr val="2F80ED"/>
                </a:solidFill>
              </a:rPr>
              <a:t>完成前驗證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86E42-DBF8-4DA2-8738-299721B9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9527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1. python -m pytest -q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0341F4-75B3-4AC6-8CA0-F9AE1881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3528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2. python -m compileall app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441CDB-8457-4841-A584-F9575DF90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52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3. node --check app/ui/static/app.js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2E264D-31BD-4C01-92B7-118168D7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529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6070"/>
                </a:solidFill>
              </a:defRPr>
            </a:pPr>
            <a:r>
              <a:rPr sz="1350" b="0">
                <a:solidFill>
                  <a:srgbClr val="556070"/>
                </a:solidFill>
              </a:rPr>
              <a:t>4. 必要時重新 build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1D894-118A-45C8-A2D2-A0F661A3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26D3D"/>
                </a:solidFill>
              </a:defRPr>
            </a:pPr>
            <a:r>
              <a:rPr sz="1725" b="1">
                <a:solidFill>
                  <a:srgbClr val="F26D3D"/>
                </a:solidFill>
              </a:rPr>
              <a:t>核心信念：資料抓取要少打來源、多重算本地真相、用同一套語言告訴使用者下一步。</a:t>
            </a:r>
          </a:p>
        </p:txBody>
      </p:sp>
    </p:spTree>
    <p:extLst>
      <p:ext uri="{BB962C8B-B14F-4D97-AF65-F5344CB8AC3E}">
        <p14:creationId xmlns:p14="http://schemas.microsoft.com/office/powerpoint/2010/main" val="15642032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2026-07-06T03:45:01.4340000Z</dcterms:created>
  <dcterms:modified xsi:type="dcterms:W3CDTF">2026-07-06T03:45:01.4340000Z</dcterms:modified>
</coreProperties>
</file>